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920bec6a514754" /><Relationship Type="http://schemas.openxmlformats.org/officeDocument/2006/relationships/extended-properties" Target="/docProps/app.xml" Id="R45bad170bcbf4c07" /><Relationship Type="http://schemas.openxmlformats.org/officeDocument/2006/relationships/officeDocument" Target="/ppt/presentation.xml" Id="R6a0c828ea5a348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f61b8eb6a54a8b"/>
  </p:sldMasterIdLst>
  <p:notesMasterIdLst>
    <p:notesMasterId xmlns:r="http://schemas.openxmlformats.org/officeDocument/2006/relationships" r:id="R5bf2cebc392a4611"/>
  </p:notesMasterIdLst>
  <p:sldIdLst>
    <p:sldId xmlns:r="http://schemas.openxmlformats.org/officeDocument/2006/relationships" id="256" r:id="R9eab3abeee19417f"/>
    <p:sldId xmlns:r="http://schemas.openxmlformats.org/officeDocument/2006/relationships" id="257" r:id="R68a919c94e514807"/>
    <p:sldId xmlns:r="http://schemas.openxmlformats.org/officeDocument/2006/relationships" id="258" r:id="R2402234bb03546b8"/>
    <p:sldId xmlns:r="http://schemas.openxmlformats.org/officeDocument/2006/relationships" id="259" r:id="R6bfd8abd38894839"/>
    <p:sldId xmlns:r="http://schemas.openxmlformats.org/officeDocument/2006/relationships" id="260" r:id="Raa385b58d5b14082"/>
    <p:sldId xmlns:r="http://schemas.openxmlformats.org/officeDocument/2006/relationships" id="261" r:id="R14fbbc505cd2481f"/>
    <p:sldId xmlns:r="http://schemas.openxmlformats.org/officeDocument/2006/relationships" id="262" r:id="Rc00b1d53502c4a1e"/>
    <p:sldId xmlns:r="http://schemas.openxmlformats.org/officeDocument/2006/relationships" id="263" r:id="Ra72085ae31d943a9"/>
    <p:sldId xmlns:r="http://schemas.openxmlformats.org/officeDocument/2006/relationships" id="264" r:id="R09d25521d7674bba"/>
    <p:sldId xmlns:r="http://schemas.openxmlformats.org/officeDocument/2006/relationships" id="265" r:id="Rd00d4d2a34b44d22"/>
    <p:sldId xmlns:r="http://schemas.openxmlformats.org/officeDocument/2006/relationships" id="266" r:id="R51dc7305f9b84f47"/>
    <p:sldId xmlns:r="http://schemas.openxmlformats.org/officeDocument/2006/relationships" id="267" r:id="R39f6a73e8c594d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b3c7a0cc0046e1" /><Relationship Type="http://schemas.openxmlformats.org/officeDocument/2006/relationships/slideMaster" Target="/ppt/slideMasters/slideMaster1.xml" Id="R6af61b8eb6a54a8b" /><Relationship Type="http://schemas.openxmlformats.org/officeDocument/2006/relationships/notesMaster" Target="/ppt/notesMasters/notesMaster1.xml" Id="R5bf2cebc392a4611" /><Relationship Type="http://schemas.openxmlformats.org/officeDocument/2006/relationships/presProps" Target="/ppt/presProps.xml" Id="R808a664da1744a6c" /><Relationship Type="http://schemas.openxmlformats.org/officeDocument/2006/relationships/tableStyles" Target="/ppt/tableStyles.xml" Id="Ra4a50fec61624df1" /><Relationship Type="http://schemas.openxmlformats.org/officeDocument/2006/relationships/slide" Target="/ppt/slides/slide1.xml" Id="R9eab3abeee19417f" /><Relationship Type="http://schemas.openxmlformats.org/officeDocument/2006/relationships/slide" Target="/ppt/slides/slide2.xml" Id="R68a919c94e514807" /><Relationship Type="http://schemas.openxmlformats.org/officeDocument/2006/relationships/slide" Target="/ppt/slides/slide3.xml" Id="R2402234bb03546b8" /><Relationship Type="http://schemas.openxmlformats.org/officeDocument/2006/relationships/slide" Target="/ppt/slides/slide4.xml" Id="R6bfd8abd38894839" /><Relationship Type="http://schemas.openxmlformats.org/officeDocument/2006/relationships/slide" Target="/ppt/slides/slide5.xml" Id="Raa385b58d5b14082" /><Relationship Type="http://schemas.openxmlformats.org/officeDocument/2006/relationships/slide" Target="/ppt/slides/slide6.xml" Id="R14fbbc505cd2481f" /><Relationship Type="http://schemas.openxmlformats.org/officeDocument/2006/relationships/slide" Target="/ppt/slides/slide7.xml" Id="Rc00b1d53502c4a1e" /><Relationship Type="http://schemas.openxmlformats.org/officeDocument/2006/relationships/slide" Target="/ppt/slides/slide8.xml" Id="Ra72085ae31d943a9" /><Relationship Type="http://schemas.openxmlformats.org/officeDocument/2006/relationships/slide" Target="/ppt/slides/slide9.xml" Id="R09d25521d7674bba" /><Relationship Type="http://schemas.openxmlformats.org/officeDocument/2006/relationships/slide" Target="/ppt/slides/slide10.xml" Id="Rd00d4d2a34b44d22" /><Relationship Type="http://schemas.openxmlformats.org/officeDocument/2006/relationships/slide" Target="/ppt/slides/slide11.xml" Id="R51dc7305f9b84f47" /><Relationship Type="http://schemas.openxmlformats.org/officeDocument/2006/relationships/slide" Target="/ppt/slides/slide12.xml" Id="R39f6a73e8c594d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f2f7e14c274b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0c8b59dd54a7f" /><Relationship Type="http://schemas.openxmlformats.org/officeDocument/2006/relationships/notesMaster" Target="/ppt/notesMasters/notesMaster1.xml" Id="R22d3cf993cf94e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0968722de645bf" /><Relationship Type="http://schemas.openxmlformats.org/officeDocument/2006/relationships/notesMaster" Target="/ppt/notesMasters/notesMaster1.xml" Id="R6b8aa902cebf48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22a7ceca5b409a" /><Relationship Type="http://schemas.openxmlformats.org/officeDocument/2006/relationships/notesMaster" Target="/ppt/notesMasters/notesMaster1.xml" Id="Re85e4783e90642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7c6bee24b446ed" /><Relationship Type="http://schemas.openxmlformats.org/officeDocument/2006/relationships/notesMaster" Target="/ppt/notesMasters/notesMaster1.xml" Id="R46a5f695da8248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4cf74e189d484d" /><Relationship Type="http://schemas.openxmlformats.org/officeDocument/2006/relationships/notesMaster" Target="/ppt/notesMasters/notesMaster1.xml" Id="Rb489d7532cec44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2f7b065fc84201" /><Relationship Type="http://schemas.openxmlformats.org/officeDocument/2006/relationships/notesMaster" Target="/ppt/notesMasters/notesMaster1.xml" Id="Raa804b2767bd45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bb3a151ceb49b0" /><Relationship Type="http://schemas.openxmlformats.org/officeDocument/2006/relationships/notesMaster" Target="/ppt/notesMasters/notesMaster1.xml" Id="R4d99021aa53f46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99d53c50f64d01" /><Relationship Type="http://schemas.openxmlformats.org/officeDocument/2006/relationships/notesMaster" Target="/ppt/notesMasters/notesMaster1.xml" Id="Rb1261921936946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54608bbecc440a" /><Relationship Type="http://schemas.openxmlformats.org/officeDocument/2006/relationships/notesMaster" Target="/ppt/notesMasters/notesMaster1.xml" Id="Re3cb0b93ef2846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b4840c6bcd46ff" /><Relationship Type="http://schemas.openxmlformats.org/officeDocument/2006/relationships/notesMaster" Target="/ppt/notesMasters/notesMaster1.xml" Id="R26ed1c2099da4f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263428b3654085" /><Relationship Type="http://schemas.openxmlformats.org/officeDocument/2006/relationships/notesMaster" Target="/ppt/notesMasters/notesMaster1.xml" Id="R3d6f3e948b9e47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d15ed799e949b7" /><Relationship Type="http://schemas.openxmlformats.org/officeDocument/2006/relationships/notesMaster" Target="/ppt/notesMasters/notesMaster1.xml" Id="R4d53f165b8d040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UCI Online Retail II DOI 10.24432/C5CG6D; KKBox WSDM Cup 2018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project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project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project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project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project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project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project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project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project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project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project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9a8bc89b834e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9f763cc124b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6819e022f46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bca3e020c49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683abdeae4c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6ebd280124d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53C859-3E28-48A3-8096-D210ED0E4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B7914D-99BF-4177-B6F0-C8D2684011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346201-FBD8-431B-B48D-EA0D219B44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88D6AB-2D46-4242-8C0B-4E5FF491C7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215D9C-3955-49EA-A3EA-E4E36F9383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C35F2B-27EA-4CE9-9028-9190DE0C99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809564-A99D-4C53-971C-174EAE2080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871A2A-ED1E-48F3-80C5-9C13B61CFF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E60047-D711-45DE-8651-1C3FD699F7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2B8093-9F00-4048-9859-CD9EB09E18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0477c7f9864385" /><Relationship Type="http://schemas.openxmlformats.org/officeDocument/2006/relationships/slideLayout" Target="/ppt/slideLayouts/slideLayout1.xml" Id="Re61d9fe2f0004390" /><Relationship Type="http://schemas.openxmlformats.org/officeDocument/2006/relationships/slideLayout" Target="/ppt/slideLayouts/slideLayout2.xml" Id="R7f0e2452feed4249" /><Relationship Type="http://schemas.openxmlformats.org/officeDocument/2006/relationships/slideLayout" Target="/ppt/slideLayouts/slideLayout3.xml" Id="R3cfe3db9a3e6431f" /><Relationship Type="http://schemas.openxmlformats.org/officeDocument/2006/relationships/slideLayout" Target="/ppt/slideLayouts/slideLayout4.xml" Id="R32dfb71b0cea446e" /><Relationship Type="http://schemas.openxmlformats.org/officeDocument/2006/relationships/slideLayout" Target="/ppt/slideLayouts/slideLayout5.xml" Id="Rc41d7b825dce4a70" /><Relationship Type="http://schemas.openxmlformats.org/officeDocument/2006/relationships/slideLayout" Target="/ppt/slideLayouts/slideLayout6.xml" Id="R695dd251c49e49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1d9fe2f0004390"/>
    <p:sldLayoutId xmlns:r="http://schemas.openxmlformats.org/officeDocument/2006/relationships" id="2147483650" r:id="R7f0e2452feed4249"/>
    <p:sldLayoutId xmlns:r="http://schemas.openxmlformats.org/officeDocument/2006/relationships" id="2147483651" r:id="R3cfe3db9a3e6431f"/>
    <p:sldLayoutId xmlns:r="http://schemas.openxmlformats.org/officeDocument/2006/relationships" id="2147483652" r:id="R32dfb71b0cea446e"/>
    <p:sldLayoutId xmlns:r="http://schemas.openxmlformats.org/officeDocument/2006/relationships" id="2147483653" r:id="Rc41d7b825dce4a70"/>
    <p:sldLayoutId xmlns:r="http://schemas.openxmlformats.org/officeDocument/2006/relationships" id="2147483654" r:id="R695dd251c49e49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e80ac87fe4e51" /><Relationship Type="http://schemas.openxmlformats.org/officeDocument/2006/relationships/notesSlide" Target="/ppt/notesSlides/notesSlide1.xml" Id="Rd60b51fff10040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c3dc469e6480b" /><Relationship Type="http://schemas.openxmlformats.org/officeDocument/2006/relationships/notesSlide" Target="/ppt/notesSlides/notesSlide2.xml" Id="R677ea7578f3347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69040be65c4c9a" /><Relationship Type="http://schemas.openxmlformats.org/officeDocument/2006/relationships/notesSlide" Target="/ppt/notesSlides/notesSlide3.xml" Id="R309c7c643be84d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46dbafe5304c19" /><Relationship Type="http://schemas.openxmlformats.org/officeDocument/2006/relationships/notesSlide" Target="/ppt/notesSlides/notesSlide4.xml" Id="R35307c62f22748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5da5b67cc4f9b" /><Relationship Type="http://schemas.openxmlformats.org/officeDocument/2006/relationships/image" Target="/ppt/media/image.png" Id="R031a58330c67493f" /><Relationship Type="http://schemas.openxmlformats.org/officeDocument/2006/relationships/notesSlide" Target="/ppt/notesSlides/notesSlide5.xml" Id="Rb3e156bdee3441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75b69369f46b8" /><Relationship Type="http://schemas.openxmlformats.org/officeDocument/2006/relationships/image" Target="/ppt/media/image2.png" Id="Rfcdc5390631e4c83" /><Relationship Type="http://schemas.openxmlformats.org/officeDocument/2006/relationships/notesSlide" Target="/ppt/notesSlides/notesSlide6.xml" Id="Rde36e2c9ca704e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2a61fc70444f18" /><Relationship Type="http://schemas.openxmlformats.org/officeDocument/2006/relationships/notesSlide" Target="/ppt/notesSlides/notesSlide7.xml" Id="Rf63f03beceea4b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d77913d2eb4ee0" /><Relationship Type="http://schemas.openxmlformats.org/officeDocument/2006/relationships/image" Target="/ppt/media/image3.png" Id="R077e1559752b4e3f" /><Relationship Type="http://schemas.openxmlformats.org/officeDocument/2006/relationships/notesSlide" Target="/ppt/notesSlides/notesSlide8.xml" Id="Rb69c2357081a42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c6aca3e3b4427f" /><Relationship Type="http://schemas.openxmlformats.org/officeDocument/2006/relationships/image" Target="/ppt/media/image4.png" Id="Rfeb77c4f933d4be0" /><Relationship Type="http://schemas.openxmlformats.org/officeDocument/2006/relationships/notesSlide" Target="/ppt/notesSlides/notesSlide9.xml" Id="R7841dc08248a46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d25bd83ed4173" /><Relationship Type="http://schemas.openxmlformats.org/officeDocument/2006/relationships/notesSlide" Target="/ppt/notesSlides/notesSlide10.xml" Id="Rda918095106542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38656e42c47ff" /><Relationship Type="http://schemas.openxmlformats.org/officeDocument/2006/relationships/image" Target="/ppt/media/image5.png" Id="Rdf9b7dab2a7345e0" /><Relationship Type="http://schemas.openxmlformats.org/officeDocument/2006/relationships/notesSlide" Target="/ppt/notesSlides/notesSlide11.xml" Id="R2436fb665b7943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86bbe95b84587" /><Relationship Type="http://schemas.openxmlformats.org/officeDocument/2006/relationships/notesSlide" Target="/ppt/notesSlides/notesSlide12.xml" Id="R3d752547e5a44e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B9776-9EDD-41CF-8E02-BD39DCFE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Dự đoán không mua lại khách hàng thương mại điện tử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9D282-3296-4318-ACA7-DA2CCA41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7EFF0"/>
                </a:solidFill>
                <a:latin typeface="Arial"/>
                <a:ea typeface="Arial"/>
                <a:cs typeface="Arial"/>
              </a:rPr>
              <a:t>UCI Retail II làm case study</a:t>
            </a:r>
          </a:p>
          <a:p xmlns:a="http://schemas.openxmlformats.org/drawingml/2006/main">
            <a:pPr>
              <a:defRPr sz="22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7EFF0"/>
                </a:solidFill>
                <a:latin typeface="Arial"/>
                <a:ea typeface="Arial"/>
                <a:cs typeface="Arial"/>
              </a:rPr>
              <a:t>KKBox làm benchmark churn có nhãn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96D4B-8D36-4F87-9D92-5C4D1E16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7EF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EFF0"/>
                </a:solidFill>
                <a:latin typeface="Arial"/>
                <a:ea typeface="Arial"/>
                <a:cs typeface="Arial"/>
              </a:rPr>
              <a:t>Nhóm: _______________________   Lớp: 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332039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64248-3AF1-46AB-BF9D-CB870DFF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B36"/>
                </a:solidFill>
                <a:latin typeface="Arial"/>
                <a:ea typeface="Arial"/>
                <a:cs typeface="Arial"/>
              </a:rPr>
              <a:t>Câu hỏi kinh doanh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5DCB5-0BCE-4B14-8B02-839A88AB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287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B36"/>
                </a:solidFill>
                <a:latin typeface="Arial"/>
                <a:ea typeface="Arial"/>
                <a:cs typeface="Arial"/>
              </a:rPr>
              <a:t>Khách nào có nguy cơ không mua lại trong 90 ngày?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B36"/>
                </a:solidFill>
                <a:latin typeface="Arial"/>
                <a:ea typeface="Arial"/>
                <a:cs typeface="Arial"/>
              </a:rPr>
              <a:t>Mục đích: ưu tiên chăm sóc và kiểm tra bằng pilot A/B.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B36"/>
                </a:solidFill>
                <a:latin typeface="Arial"/>
                <a:ea typeface="Arial"/>
                <a:cs typeface="Arial"/>
              </a:rPr>
              <a:t>Dự báo rủi ro không chứng minh voucher tạo tác động nhân quả.</a:t>
            </a:r>
          </a:p>
        </p:txBody>
      </p:sp>
    </p:spTree>
    <p:extLst>
      <p:ext uri="{BB962C8B-B14F-4D97-AF65-F5344CB8AC3E}">
        <p14:creationId xmlns:p14="http://schemas.microsoft.com/office/powerpoint/2010/main" val="1281537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36CD5-47B4-4878-8A29-766891CA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B36"/>
                </a:solidFill>
                <a:latin typeface="Arial"/>
                <a:ea typeface="Arial"/>
                <a:cs typeface="Arial"/>
              </a:rPr>
              <a:t>Thiết kế nghiên cứu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8C4E7-A9CB-4DE6-AB49-DA316EA67D1D}"/>
              </a:ext>
            </a:extLst>
          </p:cNvPr>
          <p:cNvGraphicFramePr/>
          <p:nvPr/>
        </p:nvGraphicFramePr>
        <p:xfrm>
          <a:off xmlns:a="http://schemas.openxmlformats.org/drawingml/2006/main" x="714375" y="1476375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5381625"/>
              </a:tblGrid>
              <a:tr h="5238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Thành phần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Quy ước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Observation window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UCI: 180 ngày trước snapshot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Outcome UCI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Không có giao dịch mới trong 90 ngày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Internal evaluation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UCI chronological train validation test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Algorithm benchmark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KKBox labelled stratified hold-out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Academic layer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BG NBD và Gamma Gamma CLV 90 ngày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C664C-9E0F-4739-A78A-0039AF92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5A64"/>
                </a:solidFill>
                <a:latin typeface="Arial"/>
                <a:ea typeface="Arial"/>
                <a:cs typeface="Arial"/>
              </a:rPr>
              <a:t>UCI không dùng ID hay dữ liệu sau snapshot. KKBox có feature matrix đã tiền xử lý nên không claim temporal benchmark.</a:t>
            </a:r>
          </a:p>
        </p:txBody>
      </p:sp>
    </p:spTree>
    <p:extLst>
      <p:ext uri="{BB962C8B-B14F-4D97-AF65-F5344CB8AC3E}">
        <p14:creationId xmlns:p14="http://schemas.microsoft.com/office/powerpoint/2010/main" val="875120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3EE64-01D6-49C1-A29F-397B53A1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B36"/>
                </a:solidFill>
                <a:latin typeface="Arial"/>
                <a:ea typeface="Arial"/>
                <a:cs typeface="Arial"/>
              </a:rPr>
              <a:t>Dữ liệu và tính tái lập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F9B21-D7E2-4E3F-B514-E4982A9046F8}"/>
              </a:ext>
            </a:extLst>
          </p:cNvPr>
          <p:cNvGraphicFramePr/>
          <p:nvPr/>
        </p:nvGraphicFramePr>
        <p:xfrm>
          <a:off xmlns:a="http://schemas.openxmlformats.org/drawingml/2006/main" x="714375" y="1476375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87750"/>
                <a:gridCol w="3587750"/>
                <a:gridCol w="3587750"/>
              </a:tblGrid>
              <a:tr h="1047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Quy mô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UCI Online Retail II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Case study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36,969 hóa đơn; 5,878 khách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KKBox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Algorithm benchmark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709,200 train; 88,650 final test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1704D-A911-4F11-AF08-AE322E0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5A64"/>
                </a:solidFill>
                <a:latin typeface="Arial"/>
                <a:ea typeface="Arial"/>
                <a:cs typeface="Arial"/>
              </a:rPr>
              <a:t>Không so sánh trực tiếp metric giữa UCI và KKBox do prevalence/domain/nhãn khác nhau.</a:t>
            </a:r>
          </a:p>
        </p:txBody>
      </p:sp>
    </p:spTree>
    <p:extLst>
      <p:ext uri="{BB962C8B-B14F-4D97-AF65-F5344CB8AC3E}">
        <p14:creationId xmlns:p14="http://schemas.microsoft.com/office/powerpoint/2010/main" val="2184452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B63D3-7FA0-4845-A1D3-4CDB3A6F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B36"/>
                </a:solidFill>
                <a:latin typeface="Arial"/>
                <a:ea typeface="Arial"/>
                <a:cs typeface="Arial"/>
              </a:rPr>
              <a:t>Xu hướng giao dịch UCI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98BED-C323-4FD7-962B-413E03BE70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a58330c67493f"/>
          <a:stretch xmlns:a="http://schemas.openxmlformats.org/drawingml/2006/main"/>
        </p:blipFill>
        <p:spPr>
          <a:xfrm xmlns:a="http://schemas.openxmlformats.org/drawingml/2006/main">
            <a:off x="976313" y="1238250"/>
            <a:ext cx="10239375" cy="409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796AA-644F-45C3-8A35-26A35EB2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5A64"/>
                </a:solidFill>
                <a:latin typeface="Arial"/>
                <a:ea typeface="Arial"/>
                <a:cs typeface="Arial"/>
              </a:rPr>
              <a:t>Tính mùa vụ là lý do tách train, validation và test theo thời gian thay vì random split.</a:t>
            </a:r>
          </a:p>
        </p:txBody>
      </p:sp>
    </p:spTree>
    <p:extLst>
      <p:ext uri="{BB962C8B-B14F-4D97-AF65-F5344CB8AC3E}">
        <p14:creationId xmlns:p14="http://schemas.microsoft.com/office/powerpoint/2010/main" val="1995063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65822-81DC-48F4-8727-67F7791E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B36"/>
                </a:solidFill>
                <a:latin typeface="Arial"/>
                <a:ea typeface="Arial"/>
                <a:cs typeface="Arial"/>
              </a:rPr>
              <a:t>Dấu hiệu chẩn đoán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716D7-79E4-4B9D-AF57-56D597F36D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c5390631e4c83"/>
          <a:stretch xmlns:a="http://schemas.openxmlformats.org/drawingml/2006/main"/>
        </p:blipFill>
        <p:spPr>
          <a:xfrm xmlns:a="http://schemas.openxmlformats.org/drawingml/2006/main">
            <a:off x="2000250" y="1238250"/>
            <a:ext cx="8191500" cy="409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0EBB5-F6AB-44E4-B432-1345C8D1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5A64"/>
                </a:solidFill>
                <a:latin typeface="Arial"/>
                <a:ea typeface="Arial"/>
                <a:cs typeface="Arial"/>
              </a:rPr>
              <a:t>Recency cao gắn với không mua lại trong 90 ngày. Đây là tương quan quan sát, không phải nguyên nhân.</a:t>
            </a:r>
          </a:p>
        </p:txBody>
      </p:sp>
    </p:spTree>
    <p:extLst>
      <p:ext uri="{BB962C8B-B14F-4D97-AF65-F5344CB8AC3E}">
        <p14:creationId xmlns:p14="http://schemas.microsoft.com/office/powerpoint/2010/main" val="13863177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A9026-E48E-48B2-9224-5BAE2E57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B36"/>
                </a:solidFill>
                <a:latin typeface="Arial"/>
                <a:ea typeface="Arial"/>
                <a:cs typeface="Arial"/>
              </a:rPr>
              <a:t>So sánh mô hình trên validation và test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00CC2-B2FF-423A-99A6-6C902073E31E}"/>
              </a:ext>
            </a:extLst>
          </p:cNvPr>
          <p:cNvGraphicFramePr/>
          <p:nvPr/>
        </p:nvGraphicFramePr>
        <p:xfrm>
          <a:off xmlns:a="http://schemas.openxmlformats.org/drawingml/2006/main" x="714375" y="1476375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93875"/>
                <a:gridCol w="1793875"/>
                <a:gridCol w="1793875"/>
                <a:gridCol w="1793875"/>
                <a:gridCol w="1793875"/>
                <a:gridCol w="1793875"/>
              </a:tblGrid>
              <a:tr h="5238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 AUC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Brier skill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Lift 10%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UCI 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RFM Logistic Regression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0.728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19.6%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1.52x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UCI 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0.746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0.723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18.6%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1.51x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UCI 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HistGradientBoosting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0.708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0.686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9.6%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1.42x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UCI 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Selected uncalibrated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0.752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0.665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15.8%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1.62x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UCI 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Selected calibrated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0.752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0.665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16.9%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1.62x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383A0-D8D4-4A59-992C-3FDF3AC0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5A64"/>
                </a:solidFill>
                <a:latin typeface="Arial"/>
                <a:ea typeface="Arial"/>
                <a:cs typeface="Arial"/>
              </a:rPr>
              <a:t>Baseline RFM, Logistic Regression đầy đủ và HistGradientBoosting dùng cùng temporal validation. RFM Logistic Regression được chọn bằng PR-AUC validation.</a:t>
            </a:r>
          </a:p>
        </p:txBody>
      </p:sp>
    </p:spTree>
    <p:extLst>
      <p:ext uri="{BB962C8B-B14F-4D97-AF65-F5344CB8AC3E}">
        <p14:creationId xmlns:p14="http://schemas.microsoft.com/office/powerpoint/2010/main" val="10668289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14FAA-0C0A-457B-AA52-96C36513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B36"/>
                </a:solidFill>
                <a:latin typeface="Arial"/>
                <a:ea typeface="Arial"/>
                <a:cs typeface="Arial"/>
              </a:rPr>
              <a:t>Calibration và bất định trên UCI test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4203B-1A3C-4242-A859-FFBA0E9964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e1559752b4e3f"/>
          <a:stretch xmlns:a="http://schemas.openxmlformats.org/drawingml/2006/main"/>
        </p:blipFill>
        <p:spPr>
          <a:xfrm xmlns:a="http://schemas.openxmlformats.org/drawingml/2006/main">
            <a:off x="4000500" y="1190625"/>
            <a:ext cx="4191000" cy="4191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F330B-B1B5-4E5C-B081-A00F36B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5A64"/>
                </a:solidFill>
                <a:latin typeface="Arial"/>
                <a:ea typeface="Arial"/>
                <a:cs typeface="Arial"/>
              </a:rPr>
              <a:t>Platt calibration fit bằng validation. Brier calibrated = 0.205 so với baseline prevalence = 0.247; Brier Skill Score = 16.9%.</a:t>
            </a:r>
          </a:p>
        </p:txBody>
      </p:sp>
    </p:spTree>
    <p:extLst>
      <p:ext uri="{BB962C8B-B14F-4D97-AF65-F5344CB8AC3E}">
        <p14:creationId xmlns:p14="http://schemas.microsoft.com/office/powerpoint/2010/main" val="1265224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16E13-98A7-413A-BF8E-898A01AD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B36"/>
                </a:solidFill>
                <a:latin typeface="Arial"/>
                <a:ea typeface="Arial"/>
                <a:cs typeface="Arial"/>
              </a:rPr>
              <a:t>Quy mô chiến dịch và trade-off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4FFA8-D93E-4FB9-9AB6-496A276955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77c4f933d4be0"/>
          <a:stretch xmlns:a="http://schemas.openxmlformats.org/drawingml/2006/main"/>
        </p:blipFill>
        <p:spPr>
          <a:xfrm xmlns:a="http://schemas.openxmlformats.org/drawingml/2006/main">
            <a:off x="2428875" y="1143000"/>
            <a:ext cx="7334250" cy="4191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049D2-FF5D-4945-9103-C4D9B5DE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5A64"/>
                </a:solidFill>
                <a:latin typeface="Arial"/>
                <a:ea typeface="Arial"/>
                <a:cs typeface="Arial"/>
              </a:rPr>
              <a:t>Top 10%: precision 71.7%, recall 16.2%, lift 1.62x. Mở rộng target tăng recall nhưng giảm lift.</a:t>
            </a:r>
          </a:p>
        </p:txBody>
      </p:sp>
    </p:spTree>
    <p:extLst>
      <p:ext uri="{BB962C8B-B14F-4D97-AF65-F5344CB8AC3E}">
        <p14:creationId xmlns:p14="http://schemas.microsoft.com/office/powerpoint/2010/main" val="1019000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95A85-F395-4FD3-9117-1C9119A0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B36"/>
                </a:solidFill>
                <a:latin typeface="Arial"/>
                <a:ea typeface="Arial"/>
                <a:cs typeface="Arial"/>
              </a:rPr>
              <a:t>Benchmark KKBox có nhãn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9D29C-7EEE-4704-BCC5-F5B417ABEA76}"/>
              </a:ext>
            </a:extLst>
          </p:cNvPr>
          <p:cNvGraphicFramePr/>
          <p:nvPr/>
        </p:nvGraphicFramePr>
        <p:xfrm>
          <a:off xmlns:a="http://schemas.openxmlformats.org/drawingml/2006/main" x="714375" y="1476375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2650"/>
                <a:gridCol w="2152650"/>
                <a:gridCol w="2152650"/>
                <a:gridCol w="2152650"/>
                <a:gridCol w="2152650"/>
              </a:tblGrid>
              <a:tr h="1047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PR-AUC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Brier Skill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Lift@10%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T w="9525">
                      <a:solidFill>
                        <a:srgbClr val="C9D4DA"/>
                      </a:solidFill>
                      <a:prstDash val="solid"/>
                    </a:lnT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173F4A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 baseline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0.855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0.356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21.1%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6.46x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HistGradientBoosting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4DA"/>
                      </a:solidFill>
                      <a:prstDash val="solid"/>
                    </a:lnL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0.878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0.420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24.7%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6"/>
                          </a:solidFill>
                          <a:latin typeface="Arial"/>
                          <a:ea typeface="Arial"/>
                          <a:cs typeface="Arial"/>
                        </a:rPr>
                        <a:t>6.71x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4DA"/>
                      </a:solidFill>
                      <a:prstDash val="solid"/>
                    </a:lnR>
                    <a:lnB w="9525">
                      <a:solidFill>
                        <a:srgbClr val="C9D4DA"/>
                      </a:solidFill>
                      <a:prstDash val="solid"/>
                    </a:lnB>
                    <a:solidFill>
                      <a:srgbClr val="E8F1F3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F4C9E-09E7-4947-9C19-16A32185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5A64"/>
                </a:solidFill>
                <a:latin typeface="Arial"/>
                <a:ea typeface="Arial"/>
                <a:cs typeface="Arial"/>
              </a:rPr>
              <a:t>HistGradientBoosting vượt Logistic Regression. Test là stratified held-out; raw timestamps không có trong public feature matrix.</a:t>
            </a:r>
          </a:p>
        </p:txBody>
      </p:sp>
    </p:spTree>
    <p:extLst>
      <p:ext uri="{BB962C8B-B14F-4D97-AF65-F5344CB8AC3E}">
        <p14:creationId xmlns:p14="http://schemas.microsoft.com/office/powerpoint/2010/main" val="8929695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01167-B7EF-45C6-BD97-1E89C7B0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B36"/>
                </a:solidFill>
                <a:latin typeface="Arial"/>
                <a:ea typeface="Arial"/>
                <a:cs typeface="Arial"/>
              </a:rPr>
              <a:t>Tầng học thuật CLV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7A0C8-38B1-4F75-A988-7A9D697F0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b7dab2a7345e0"/>
          <a:stretch xmlns:a="http://schemas.openxmlformats.org/drawingml/2006/main"/>
        </p:blipFill>
        <p:spPr>
          <a:xfrm xmlns:a="http://schemas.openxmlformats.org/drawingml/2006/main">
            <a:off x="1905000" y="1143000"/>
            <a:ext cx="8382000" cy="4191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A97F6-DF87-4A95-AAFA-98A7C35D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5A64"/>
                </a:solidFill>
                <a:latin typeface="Arial"/>
                <a:ea typeface="Arial"/>
                <a:cs typeface="Arial"/>
              </a:rPr>
              <a:t>BG/NBD ước lượng số lần mua kỳ vọng 90 ngày. Gamma-Gamma ước lượng giá trị giao dịch. CLV là giá trị giao dịch ước lượng, không phải lợi nhuận.</a:t>
            </a:r>
          </a:p>
        </p:txBody>
      </p:sp>
    </p:spTree>
    <p:extLst>
      <p:ext uri="{BB962C8B-B14F-4D97-AF65-F5344CB8AC3E}">
        <p14:creationId xmlns:p14="http://schemas.microsoft.com/office/powerpoint/2010/main" val="11452258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236DD-CF60-46D3-A973-B6332D7E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B36"/>
                </a:solidFill>
                <a:latin typeface="Arial"/>
                <a:ea typeface="Arial"/>
                <a:cs typeface="Arial"/>
              </a:rPr>
              <a:t>Kết luận và chỉ định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91318-3B5B-42AD-B0A0-C8F4BE40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382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B36"/>
                </a:solidFill>
                <a:latin typeface="Arial"/>
                <a:ea typeface="Arial"/>
                <a:cs typeface="Arial"/>
              </a:rPr>
              <a:t>1. UCI test: ROC-AUC 0.752 và Lift@10% 1.62x. Dùng để ưu tiên pilot có đối chứng.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B36"/>
                </a:solidFill>
                <a:latin typeface="Arial"/>
                <a:ea typeface="Arial"/>
                <a:cs typeface="Arial"/>
              </a:rPr>
              <a:t>2. UCI là dữ liệu bán sỉ. “Không mua lại 90 ngày” là proxy; kiểm tra 60/90/120 ngày được báo cáo riêng.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B36"/>
                </a:solidFill>
                <a:latin typeface="Arial"/>
                <a:ea typeface="Arial"/>
                <a:cs typeface="Arial"/>
              </a:rPr>
              <a:t>3. KKBox: HGB đạt ROC-AUC 0.878 và Lift@10% 6.71x. Đây là benchmark thuật toán, không phải bằng chứng causal uplift.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87B48-249E-44F0-BAF7-CAF02809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5A64"/>
                </a:solidFill>
                <a:latin typeface="Arial"/>
                <a:ea typeface="Arial"/>
                <a:cs typeface="Arial"/>
              </a:rPr>
              <a:t>Báo cáo Word trình bày đủ 9 mục, temporal split UCI, benchmark KKBox, khoảng tin cậy và tài liệu tham khảo.</a:t>
            </a:r>
          </a:p>
        </p:txBody>
      </p:sp>
    </p:spTree>
    <p:extLst>
      <p:ext uri="{BB962C8B-B14F-4D97-AF65-F5344CB8AC3E}">
        <p14:creationId xmlns:p14="http://schemas.microsoft.com/office/powerpoint/2010/main" val="1427442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2026-10-18T07:49:02.9430000Z</dcterms:created>
  <dcterms:modified xsi:type="dcterms:W3CDTF">2026-10-18T07:49:02.9430000Z</dcterms:modified>
</coreProperties>
</file>